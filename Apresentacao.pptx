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tarde, somos o time do Guardião dos Biomas — um jogo de plataforma 2D que desenvolvemos pra trazer os ODS pra dentro de um game divertido. Em 10 minutos vamos mostrar o conceito, as mecânicas e como o jogo nasceu.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ONU lançou 17 ODS em 2015. Conhecer os ODS é fácil — agir é difícil. Resolvemos que o jeito mais direto de conectar a galera da nossa idade com causa ambiental é colocando ela DENTRO do problema, controlando um personagem que vive aquilo. Daí veio o Guardião dos Biomas.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jogo tem 4 fases. Cada uma representa um ODS específico. Em vez de só ouvir "preserve a floresta", o jogador encara o desmatador. Em vez de só ler "reduza plástico no oceano", ele recolhe lixo e separa em lixeiras corretas. Os inimigos não são monstros aleatórios — são metáforas das ameaças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Guardião tem uma habilidade que combina com o bioma de onde vem. Mata, da Mata Atlântica, é ágil e salta alto entre as árvores. Maré, do Manguezal, é veloz como a corrente. Solis, do Cerrado ensolarado, sente os recursos à distância. Raíz, da Caatinga resistente, aguenta um a mais — começa o jogo com vida extra. O jogador escolhe um e parte pra 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Floresta abre o jogo. O jogador coleta sementes — gesto simbólico de reflorestamento — enquanto desvia de lodos hostis. No fim, enfrenta o ogro que personifica o desmatamento. Ao terminar a fase, recebe um fato real sobre cobertura florestal e uma ação concreta que pode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fase Oceano é a mais educativa: o jogador NÃO PODE só pegar e ignorar — tem que escolher a lixeira certa. Acertar = +1 reciclado. Errar = perde tempo. É uma mecânica que ensina separação de resíduos jogando, não palestrando. O boss aqui é literalmente uma vítima do plástico.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Cidade do Amanhã mostra que sustentabilidade não é antiurbana — é uma cidade que encontrou como conviver com energia limpa. Plataformas eólicas, prédios eficientes, baterias. O boss é o demônio industrial.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super boss é o clímax. A ODS 13 — Ação Climática — não tem inimigo único; é a soma de todos os outros. Por isso o boss final é "O Vazio": a indiferença coletiva. Quando o jogador vence, ele recebe a mensagem mais importante do jogo: cada ação conta, cada bioma vive. Aí vem a tela de vitória e os créditos.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Escolhemos a Godot 4 porque é open-source, gratuita e tem uma linguagem (GDScript) próxima do Python — então aprendemos rápido. Tudo é organizado em cenas (.tscn) que combinam visual + script. Usamos state machines pros personagens, autoloads pra estado global, e signals pro UI reagir a eventos.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é só pular e correr. O jogador tem 8 mecânicas diferentes. Pode atacar de longe (lançando sementes) ou de cima (stomp). Cada coletável renova o combo timer. Checkpoints salvam progresso pra não punir morte sem necessidade. Corações no mapa recuperam vida.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desenhamos os personagens — usamos packs open-source de qualidade profissional. O Pixel Adventure tem 4 personagens com 11 frames de animação cada, perfeitos pros 4 Guardiões. O 0x72 deu os inimigos e bosses. A música foi curada faixa-por-faixa pra combinar com o tema de cada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projeto foi feito por 5 alunos do DSM da Fatec Jacareí. Cada um teve um papel específico — programação, arte, design, testes. A força do projeto está na colaboração: ninguém fez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[Rode o jogo. Comente o que está fazendo enquanto joga. Roteiro sugerido:] 1) Mostre o menu principal (visual + música). 2) Escolha um personagem (ex: Mata). 3) Jogue 1 minuto da Floresta — coletar, atacar inimigo, ativar checkpoint. 4) Pule pra Energy. 5) Mostre a fase final — boss voador. 6) Tela de vitória + créditos. Duração total: 4-5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gente não terminou. Esse é só o primeiro release. Queremos adicionar mais ODS, mais fases, fazer multiplayer cooperativo. E o código está no GitHub sob MIT — quem quiser estudar, modificar, fazer fork, fica à vontade.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66E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66E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6EBA0"/>
                </a:solidFill>
                <a:latin typeface="Calibri"/>
              </a:rPr>
              <a:t>FATEC JACAREÍ · DSM  ·  DIA DO MEIO AMBIENTE  ·  02 JUN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8F9FA"/>
                </a:solidFill>
                <a:latin typeface="Calibri"/>
              </a:rPr>
              <a:t>GUARDIÃO DOS BIOMAS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9CA3AF"/>
                </a:solidFill>
                <a:latin typeface="Calibri"/>
              </a:rPr>
              <a:t>Um jogo de plataforma 2D sobre os Objetivos de Desenvolvimento Sustentável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663440"/>
            <a:ext cx="1371600" cy="20000"/>
          </a:xfrm>
          <a:prstGeom prst="rect">
            <a:avLst/>
          </a:prstGeom>
          <a:solidFill>
            <a:srgbClr val="66E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EBA0"/>
                </a:solidFill>
                <a:latin typeface="Calibri"/>
              </a:rPr>
              <a:t>EQUIPE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Alicia Silva Dias  ·  Gabrielly Neu dos Santos  ·  Manuela Lucia Lemes de Castro  ·  Pedro Claudino Nunes  ·  Gabriel Teodoro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F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766"/>
                </a:solidFill>
                <a:latin typeface="Calibri"/>
              </a:rPr>
              <a:t>01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Por que jogos para falar de ODS?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C766"/>
                </a:solidFill>
                <a:latin typeface="Calibri"/>
              </a:rPr>
              <a:t>▸  </a:t>
            </a:r>
            <a:r>
              <a:rPr sz="2200">
                <a:solidFill>
                  <a:srgbClr val="F8F9FA"/>
                </a:solidFill>
                <a:latin typeface="Calibri"/>
              </a:rPr>
              <a:t>17 ODS foram lançados pela ONU em 2015, com prazo até 2030.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2200" b="1">
                <a:solidFill>
                  <a:srgbClr val="FFC766"/>
                </a:solidFill>
                <a:latin typeface="Calibri"/>
              </a:rPr>
              <a:t>▸  </a:t>
            </a:r>
            <a:r>
              <a:rPr sz="2200">
                <a:solidFill>
                  <a:srgbClr val="F8F9FA"/>
                </a:solidFill>
                <a:latin typeface="Calibri"/>
              </a:rPr>
              <a:t>A maioria dos jovens conhece o nome "ODS", mas não conecta com o cotidiano.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2200" b="1">
                <a:solidFill>
                  <a:srgbClr val="FFC766"/>
                </a:solidFill>
                <a:latin typeface="Calibri"/>
              </a:rPr>
              <a:t>▸  </a:t>
            </a:r>
            <a:r>
              <a:rPr sz="2200">
                <a:solidFill>
                  <a:srgbClr val="F8F9FA"/>
                </a:solidFill>
                <a:latin typeface="Calibri"/>
              </a:rPr>
              <a:t>Educação ambiental tradicional não engaja a geração que cresceu com videogame.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2200" b="1">
                <a:solidFill>
                  <a:srgbClr val="FFC766"/>
                </a:solidFill>
                <a:latin typeface="Calibri"/>
              </a:rPr>
              <a:t>▸  </a:t>
            </a:r>
            <a:r>
              <a:rPr sz="2200">
                <a:solidFill>
                  <a:srgbClr val="F8F9FA"/>
                </a:solidFill>
                <a:latin typeface="Calibri"/>
              </a:rPr>
              <a:t>Jogo = ferramenta de empatia. O jogador SENTE o problema, não só lê sobre.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"Games são a forma mais alta de arte interativa."  —  Hideo Kojima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66E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6EBA0"/>
                </a:solidFill>
                <a:latin typeface="Calibri"/>
              </a:rPr>
              <a:t>02 · CONCEITO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🌍  Guardião dos Biomas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Calibri"/>
              </a:rPr>
              <a:t>Plataforma 2D pixel art (estilo retro 16-bit)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905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6EBA0"/>
                </a:solidFill>
                <a:latin typeface="Calibri"/>
              </a:rPr>
              <a:t>ODS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Calibri"/>
              </a:rPr>
              <a:t>🌳 FLORESTA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Vida Terrestre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74320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9050">
            <a:solidFill>
              <a:srgbClr val="75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29718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5CCFF"/>
                </a:solidFill>
                <a:latin typeface="Calibri"/>
              </a:rPr>
              <a:t>ODS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3520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Calibri"/>
              </a:rPr>
              <a:t>🌊 OCEANO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42519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Vida na Água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74320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9050">
            <a:solidFill>
              <a:srgbClr val="FF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29718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C766"/>
                </a:solidFill>
                <a:latin typeface="Calibri"/>
              </a:rPr>
              <a:t>ODS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3520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Calibri"/>
              </a:rPr>
              <a:t>⚡ CIDADE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42519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Energia Limpa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743200"/>
            <a:ext cx="2606040" cy="219456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9050">
            <a:solidFill>
              <a:srgbClr val="FF8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29718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866B"/>
                </a:solidFill>
                <a:latin typeface="Calibri"/>
              </a:rPr>
              <a:t>ODS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1976" y="3520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Calibri"/>
              </a:rPr>
              <a:t>🔥 BOSS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42519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Ação Climática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4 fases temáticas  ·  4 personagens jogáveis  ·  inimigos personificam ameaças reais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66E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6EBA0"/>
                </a:solidFill>
                <a:latin typeface="Calibri"/>
              </a:rPr>
              <a:t>03 · PERSONAGENS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Escolha seu Guardião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905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2331720" cy="64008"/>
          </a:xfrm>
          <a:prstGeom prst="rect">
            <a:avLst/>
          </a:prstGeom>
          <a:solidFill>
            <a:srgbClr val="66E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66EBA0"/>
                </a:solidFill>
                <a:latin typeface="Calibri"/>
              </a:rPr>
              <a:t>MATA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8F9FA"/>
                </a:solidFill>
                <a:latin typeface="Calibri"/>
              </a:rPr>
              <a:t>Mata Atlântica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4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ODS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6EBA0"/>
                </a:solidFill>
                <a:latin typeface="Calibri"/>
              </a:rPr>
              <a:t>PODER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8F9FA"/>
                </a:solidFill>
                <a:latin typeface="Calibri"/>
              </a:rPr>
              <a:t>Pulo +25%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4688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9050">
            <a:solidFill>
              <a:srgbClr val="75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47872" y="2606040"/>
            <a:ext cx="2331720" cy="64008"/>
          </a:xfrm>
          <a:prstGeom prst="rect">
            <a:avLst/>
          </a:prstGeom>
          <a:solidFill>
            <a:srgbClr val="75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88036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75CCFF"/>
                </a:solidFill>
                <a:latin typeface="Calibri"/>
              </a:rPr>
              <a:t>MARÉ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36118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8F9FA"/>
                </a:solidFill>
                <a:latin typeface="Calibri"/>
              </a:rPr>
              <a:t>Manguezal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397764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ODS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48463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75CCFF"/>
                </a:solidFill>
                <a:latin typeface="Calibri"/>
              </a:rPr>
              <a:t>PODER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51663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8F9FA"/>
                </a:solidFill>
                <a:latin typeface="Calibri"/>
              </a:rPr>
              <a:t>Velocidade +30%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4688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9050">
            <a:solidFill>
              <a:srgbClr val="FF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2606040"/>
            <a:ext cx="2331720" cy="64008"/>
          </a:xfrm>
          <a:prstGeom prst="rect">
            <a:avLst/>
          </a:prstGeom>
          <a:solidFill>
            <a:srgbClr val="FFC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288036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C766"/>
                </a:solidFill>
                <a:latin typeface="Calibri"/>
              </a:rPr>
              <a:t>SOLIS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6118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8F9FA"/>
                </a:solidFill>
                <a:latin typeface="Calibri"/>
              </a:rPr>
              <a:t>Cerrado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97764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ODS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8463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C766"/>
                </a:solidFill>
                <a:latin typeface="Calibri"/>
              </a:rPr>
              <a:t>PODER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51663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8F9FA"/>
                </a:solidFill>
                <a:latin typeface="Calibri"/>
              </a:rPr>
              <a:t>Coleta 2×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1976" y="246888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9050">
            <a:solidFill>
              <a:srgbClr val="FF8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2606040"/>
            <a:ext cx="2331720" cy="64008"/>
          </a:xfrm>
          <a:prstGeom prst="rect">
            <a:avLst/>
          </a:prstGeom>
          <a:solidFill>
            <a:srgbClr val="FF8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1976" y="288036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866B"/>
                </a:solidFill>
                <a:latin typeface="Calibri"/>
              </a:rPr>
              <a:t>RAÍZ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36118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8F9FA"/>
                </a:solidFill>
                <a:latin typeface="Calibri"/>
              </a:rPr>
              <a:t>Caatinga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97764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ODS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48463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866B"/>
                </a:solidFill>
                <a:latin typeface="Calibri"/>
              </a:rPr>
              <a:t>PODER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51663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8F9FA"/>
                </a:solidFill>
                <a:latin typeface="Calibri"/>
              </a:rPr>
              <a:t>Vida extra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66E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6EBA0"/>
                </a:solidFill>
                <a:latin typeface="Calibri"/>
              </a:rPr>
              <a:t>FASE  ·  ODS 15  ·  VIDA TERRESTRE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🌳  Floresta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EBA0"/>
                </a:solidFill>
                <a:latin typeface="Calibri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Coletar 5 sementes + derrotar o Ogro Devastador.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377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5420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EBA0"/>
                </a:solidFill>
                <a:latin typeface="Calibri"/>
              </a:rPr>
              <a:t>INIMIGOS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92608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Lodos animados — criaturas da terra contaminada pelo desmatamento.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2377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25420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EBA0"/>
                </a:solidFill>
                <a:latin typeface="Calibri"/>
              </a:rPr>
              <a:t>CHEFE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292608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Ogre — personificação do desmatamento brutal.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EBA0"/>
                </a:solidFill>
                <a:latin typeface="Calibri"/>
              </a:rPr>
              <a:t>FATO APRESENTADO AO JOGADOR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8F9FA"/>
                </a:solidFill>
                <a:latin typeface="Calibri"/>
              </a:rPr>
              <a:t>"Florestas cobrem 31% da Terra e abrigam 80% das espécies terrestres."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EBA0"/>
                </a:solidFill>
                <a:latin typeface="Calibri"/>
              </a:rPr>
              <a:t>AÇÃO SUGERIDA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Plante uma árvore nativa. Reduza consumo de papel.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75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5CCFF"/>
                </a:solidFill>
                <a:latin typeface="Calibri"/>
              </a:rPr>
              <a:t>FASE  ·  ODS 14  ·  VIDA NA ÁGUA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🌊  Oceano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75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Coletar 5 itens recicláveis e depositar cada um na lixeira correta.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377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75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5420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INIMIGOS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92608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Lesmas tóxicas — poluição visível do oceano.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2377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75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25420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CHEFE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292608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Big Zombie — vítima do plástico no mar.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FATO APRESENTADO AO JOGADOR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8F9FA"/>
                </a:solidFill>
                <a:latin typeface="Calibri"/>
              </a:rPr>
              <a:t>"11 milhões de toneladas de plástico chegam ao oceano todo ano."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AÇÃO SUGERIDA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Separe seu lixo. Pesquise a coleta da sua cidade.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F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766"/>
                </a:solidFill>
                <a:latin typeface="Calibri"/>
              </a:rPr>
              <a:t>FASE  ·  ODS 7  ·  ENERGIA LIMPA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⚡  Cidade do Amanhã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FF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766"/>
                </a:solidFill>
                <a:latin typeface="Calibri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Coletar 5 baterias solares + derrotar o demônio industrial.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377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FF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5420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766"/>
                </a:solidFill>
                <a:latin typeface="Calibri"/>
              </a:rPr>
              <a:t>INIMIGOS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92608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Chorts vermelhos — poluição industrial personificada.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237744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FF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254203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766"/>
                </a:solidFill>
                <a:latin typeface="Calibri"/>
              </a:rPr>
              <a:t>CHEFE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292608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Big Demon — última resistência do modelo poluente.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766"/>
                </a:solidFill>
                <a:latin typeface="Calibri"/>
              </a:rPr>
              <a:t>FATO APRESENTADO AO JOGADOR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8F9FA"/>
                </a:solidFill>
                <a:latin typeface="Calibri"/>
              </a:rPr>
              <a:t>"700 milhões de pessoas vivem sem acesso à eletricidade. Energia limpa = 30% da matriz mundial e crescendo."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C766"/>
                </a:solidFill>
                <a:latin typeface="Calibri"/>
              </a:rPr>
              <a:t>AÇÃO SUGERIDA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Economize energia. Apoie políticas de transição energética.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4D4D"/>
                </a:solidFill>
                <a:latin typeface="Calibri"/>
              </a:rPr>
              <a:t>CLIMAX  ·  ODS 13  ·  AÇÃO CLIMÁTICA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🔥  Coração do Mundo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4D4D"/>
                </a:solidFill>
                <a:latin typeface="Calibri"/>
              </a:rPr>
              <a:t>Super Boss — "O Vazio"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FF4D4D"/>
                </a:solidFill>
                <a:latin typeface="Calibri"/>
              </a:rPr>
              <a:t>▸  </a:t>
            </a:r>
            <a:r>
              <a:rPr sz="2000">
                <a:solidFill>
                  <a:srgbClr val="F8F9FA"/>
                </a:solidFill>
                <a:latin typeface="Calibri"/>
              </a:rPr>
              <a:t>Arena especial — silêncio dramático que dá lugar a música épica.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2000" b="1">
                <a:solidFill>
                  <a:srgbClr val="FF4D4D"/>
                </a:solidFill>
                <a:latin typeface="Calibri"/>
              </a:rPr>
              <a:t>▸  </a:t>
            </a:r>
            <a:r>
              <a:rPr sz="2000">
                <a:solidFill>
                  <a:srgbClr val="F8F9FA"/>
                </a:solidFill>
                <a:latin typeface="Calibri"/>
              </a:rPr>
              <a:t>Boss voador (cogumelo místico corrompido). 8 HP, padrão de smash.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2000" b="1">
                <a:solidFill>
                  <a:srgbClr val="FF4D4D"/>
                </a:solidFill>
                <a:latin typeface="Calibri"/>
              </a:rPr>
              <a:t>▸  </a:t>
            </a:r>
            <a:r>
              <a:rPr sz="2000">
                <a:solidFill>
                  <a:srgbClr val="F8F9FA"/>
                </a:solidFill>
                <a:latin typeface="Calibri"/>
              </a:rPr>
              <a:t>Mecânica: aguarde, esquive, contra-ataque com seed na janela vulnerável.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2000" b="1">
                <a:solidFill>
                  <a:srgbClr val="FF4D4D"/>
                </a:solidFill>
                <a:latin typeface="Calibri"/>
              </a:rPr>
              <a:t>▸  </a:t>
            </a:r>
            <a:r>
              <a:rPr sz="2000">
                <a:solidFill>
                  <a:srgbClr val="F8F9FA"/>
                </a:solidFill>
                <a:latin typeface="Calibri"/>
              </a:rPr>
              <a:t>Mensagem central: cada Guardião enfrenta o mesmo inimigo final — a indiferença.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2000" b="1">
                <a:solidFill>
                  <a:srgbClr val="FF4D4D"/>
                </a:solidFill>
                <a:latin typeface="Calibri"/>
              </a:rPr>
              <a:t>▸  </a:t>
            </a:r>
            <a:r>
              <a:rPr sz="2000">
                <a:solidFill>
                  <a:srgbClr val="F8F9FA"/>
                </a:solidFill>
                <a:latin typeface="Calibri"/>
              </a:rPr>
              <a:t>Vencer = tela de vitória com baú dourado + créditos rolando.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75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5CCFF"/>
                </a:solidFill>
                <a:latin typeface="Calibri"/>
              </a:rPr>
              <a:t>04 · TECNOLOGIA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Como construímos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Godot 4.6 — open-source, gratuita, leve.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LINGUAGEM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GDScript — sintaxe Python-like, ideal pra prototipagem rápida.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ARQUITETURA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State machines (player, inimigos, bosses) + signal-driven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3774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PADRÕES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7889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Autoloads singletons (GameState, MusicPlayer, SfxPlayer).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7033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RENDERER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11480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Forward Mobile (Vulkan) — performance em hardware modesto.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0292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75CCFF"/>
                </a:solidFill>
                <a:latin typeface="Calibri"/>
              </a:rPr>
              <a:t>VERSIONAMENTO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44068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Calibri"/>
              </a:rPr>
              <a:t>Git + GitHub. Exportável pra Windows, Linux, Mac e Web.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FC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766"/>
                </a:solidFill>
                <a:latin typeface="Calibri"/>
              </a:rPr>
              <a:t>05 · GAMEPLAY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Mecânicas de gameplay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C766"/>
                </a:solidFill>
                <a:latin typeface="Calibri"/>
              </a:rPr>
              <a:t>▸  </a:t>
            </a:r>
            <a:r>
              <a:rPr sz="1800">
                <a:solidFill>
                  <a:srgbClr val="F8F9FA"/>
                </a:solidFill>
                <a:latin typeface="Calibri"/>
              </a:rPr>
              <a:t>Movimentação — andar · agachar · deslizar · pular · pulo duplo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FFC766"/>
                </a:solidFill>
                <a:latin typeface="Calibri"/>
              </a:rPr>
              <a:t>▸  </a:t>
            </a:r>
            <a:r>
              <a:rPr sz="1800">
                <a:solidFill>
                  <a:srgbClr val="F8F9FA"/>
                </a:solidFill>
                <a:latin typeface="Calibri"/>
              </a:rPr>
              <a:t>Combate corpo-a-corpo — stomp clássico — pula em cima do inimigo (caindo) o derrota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FFC766"/>
                </a:solidFill>
                <a:latin typeface="Calibri"/>
              </a:rPr>
              <a:t>▸  </a:t>
            </a:r>
            <a:r>
              <a:rPr sz="1800">
                <a:solidFill>
                  <a:srgbClr val="F8F9FA"/>
                </a:solidFill>
                <a:latin typeface="Calibri"/>
              </a:rPr>
              <a:t>Combate à distância — lança sementes (X / J) — projétil que voa horizontal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FFC766"/>
                </a:solidFill>
                <a:latin typeface="Calibri"/>
              </a:rPr>
              <a:t>▸  </a:t>
            </a:r>
            <a:r>
              <a:rPr sz="1800">
                <a:solidFill>
                  <a:srgbClr val="F8F9FA"/>
                </a:solidFill>
                <a:latin typeface="Calibri"/>
              </a:rPr>
              <a:t>Wall slide — desliza na parede vertical e dá wall-jump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FFC766"/>
                </a:solidFill>
                <a:latin typeface="Calibri"/>
              </a:rPr>
              <a:t>▸  </a:t>
            </a:r>
            <a:r>
              <a:rPr sz="1800">
                <a:solidFill>
                  <a:srgbClr val="F8F9FA"/>
                </a:solidFill>
                <a:latin typeface="Calibri"/>
              </a:rPr>
              <a:t>Combo timer — mantenha ritmo coletando — se demorar entre coletas, perde vida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FFC766"/>
                </a:solidFill>
                <a:latin typeface="Calibri"/>
              </a:rPr>
              <a:t>▸  </a:t>
            </a:r>
            <a:r>
              <a:rPr sz="1800">
                <a:solidFill>
                  <a:srgbClr val="F8F9FA"/>
                </a:solidFill>
                <a:latin typeface="Calibri"/>
              </a:rPr>
              <a:t>Checkpoints — bandeiras coloridas salvam progresso na fase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FFC766"/>
                </a:solidFill>
                <a:latin typeface="Calibri"/>
              </a:rPr>
              <a:t>▸  </a:t>
            </a:r>
            <a:r>
              <a:rPr sz="1800">
                <a:solidFill>
                  <a:srgbClr val="F8F9FA"/>
                </a:solidFill>
                <a:latin typeface="Calibri"/>
              </a:rPr>
              <a:t>Life pickups — corações no meio do mapa recuperam vida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800" b="1">
                <a:solidFill>
                  <a:srgbClr val="FFC766"/>
                </a:solidFill>
                <a:latin typeface="Calibri"/>
              </a:rPr>
              <a:t>▸  </a:t>
            </a:r>
            <a:r>
              <a:rPr sz="1800">
                <a:solidFill>
                  <a:srgbClr val="F8F9FA"/>
                </a:solidFill>
                <a:latin typeface="Calibri"/>
              </a:rPr>
              <a:t>HUD dinâmica — vidas, ODS atual, contagem de coletáveis, barra de combo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F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866B"/>
                </a:solidFill>
                <a:latin typeface="Calibri"/>
              </a:rPr>
              <a:t>06 · ARTE &amp; SOM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Identidade visual e sonora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866B"/>
                </a:solidFill>
                <a:latin typeface="Calibri"/>
              </a:rPr>
              <a:t>🎨  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3492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Personagens — Pixel Adventure (Pixelfrog, CC0)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Inimigos &amp; bosses — 0x72 DungeonTileset II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Tilesets ambientais — Kenney Seasonal (CC0)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Ícones (lixo, sementes, bateria) — Flaticon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Fonte UI — Press Start 2P (OFL)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945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866B"/>
                </a:solidFill>
                <a:latin typeface="Calibri"/>
              </a:rPr>
              <a:t>🎵  SOM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697480"/>
            <a:ext cx="53492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Menu — Cyberpunk Moonlight Sonata (Visager)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Floresta — Through the Dark Forest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Oceano — Cruising Down 8-bit Lane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Cidade — Retro Space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Boss Final — The Final Boss Battle (épico)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FF866B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SFX — gerados em sfxr.me (8-bit retrô)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66E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6EBA0"/>
                </a:solidFill>
                <a:latin typeface="Calibri"/>
              </a:rPr>
              <a:t>07 · EQUIPE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Quem fez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FATEC Jacareí  ·  DSM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292608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6647" y="3291840"/>
            <a:ext cx="1097280" cy="109728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66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727" y="342900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66EBA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27" y="47091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9FA"/>
                </a:solidFill>
                <a:latin typeface="Calibri"/>
              </a:rPr>
              <a:t>Alicia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727" y="5120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Silva Dias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4007" y="292608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06927" y="3291840"/>
            <a:ext cx="1097280" cy="109728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66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4007" y="342900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66EBA0"/>
                </a:solidFill>
                <a:latin typeface="Calibri"/>
              </a:rP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4007" y="47091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9FA"/>
                </a:solidFill>
                <a:latin typeface="Calibri"/>
              </a:rPr>
              <a:t>Gabrielly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4007" y="5120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Neu dos Santos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4287" y="292608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47207" y="3291840"/>
            <a:ext cx="1097280" cy="109728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66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4287" y="342900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66EBA0"/>
                </a:solidFill>
                <a:latin typeface="Calibri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287" y="47091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9FA"/>
                </a:solidFill>
                <a:latin typeface="Calibri"/>
              </a:rPr>
              <a:t>Manuela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4287" y="5120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Lucia Lemes de Castro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84567" y="292608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87487" y="3291840"/>
            <a:ext cx="1097280" cy="109728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66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4567" y="342900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66EBA0"/>
                </a:solidFill>
                <a:latin typeface="Calibri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567" y="47091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9FA"/>
                </a:solidFill>
                <a:latin typeface="Calibri"/>
              </a:rPr>
              <a:t>Pedro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4567" y="5120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Claudino Nunes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4847" y="292608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270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27767" y="3291840"/>
            <a:ext cx="1097280" cy="109728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66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4847" y="342900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66EBA0"/>
                </a:solidFill>
                <a:latin typeface="Calibri"/>
              </a:rPr>
              <a:t>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4847" y="47091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8F9FA"/>
                </a:solidFill>
                <a:latin typeface="Calibri"/>
              </a:rPr>
              <a:t>Gabriel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847" y="5120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Teodoro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4D4D"/>
                </a:solidFill>
                <a:latin typeface="Calibri"/>
              </a:rPr>
              <a:t>08 · DEMO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8F9FA"/>
                </a:solidFill>
                <a:latin typeface="Calibri"/>
              </a:rPr>
              <a:t>🎮  AO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9CA3AF"/>
                </a:solidFill>
                <a:latin typeface="Calibri"/>
              </a:rPr>
              <a:t>Veja o Guardião dos Biomas em 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Menu  →  Escolha do Guardião  →  Floresta  →  Boss Final  →  Vitória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66E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66E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6EBA0"/>
                </a:solidFill>
                <a:latin typeface="Calibri"/>
              </a:rPr>
              <a:t>09 · FECHAMENTO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8F9FA"/>
                </a:solidFill>
                <a:latin typeface="Calibri"/>
              </a:rPr>
              <a:t>O que vem depois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6EBA0"/>
                </a:solidFill>
                <a:latin typeface="Calibri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4864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6EBA0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Tradução para inglês e espanhol (alcance maior)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66EBA0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Modo cooperativo local (2 Guardiões na mesma tela)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66EBA0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Mais fases (ODS 6 — água, ODS 12 — consumo)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66EBA0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Versão web (jogar no navegador, sem download)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66EBA0"/>
                </a:solidFill>
                <a:latin typeface="Calibri"/>
              </a:rPr>
              <a:t>▸  </a:t>
            </a:r>
            <a:r>
              <a:rPr sz="1500">
                <a:solidFill>
                  <a:srgbClr val="F8F9FA"/>
                </a:solidFill>
                <a:latin typeface="Calibri"/>
              </a:rPr>
              <a:t>Conquistas e tabela de pontuação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6EBA0"/>
                </a:solidFill>
                <a:latin typeface="Calibri"/>
              </a:rPr>
              <a:t>DISPONÍVEL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Calibri"/>
              </a:rPr>
              <a:t>github.com/&lt;seu-usuário&gt;/guardiao-dos-biomas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Licença MIT — livre pra estudar, modificar, redistribuir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46320"/>
            <a:ext cx="10972800" cy="1463040"/>
          </a:xfrm>
          <a:prstGeom prst="roundRect">
            <a:avLst>
              <a:gd name="adj" fmla="val 6000"/>
            </a:avLst>
          </a:prstGeom>
          <a:solidFill>
            <a:srgbClr val="141A2A"/>
          </a:solidFill>
          <a:ln w="19050">
            <a:solidFill>
              <a:srgbClr val="66E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8F9FA"/>
                </a:solidFill>
                <a:latin typeface="Calibri"/>
              </a:rPr>
              <a:t>Cada ação conta.  Cada bioma vive.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6EBA0"/>
                </a:solidFill>
                <a:latin typeface="Calibri"/>
              </a:rPr>
              <a:t>Obrigado.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